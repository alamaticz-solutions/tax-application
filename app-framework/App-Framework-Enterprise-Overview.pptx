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8bd616d01841ca" /><Relationship Type="http://schemas.openxmlformats.org/officeDocument/2006/relationships/extended-properties" Target="/docProps/app.xml" Id="Rd2b3642187434ccd" /><Relationship Type="http://schemas.openxmlformats.org/officeDocument/2006/relationships/officeDocument" Target="/ppt/presentation.xml" Id="R8e5b9112d6a343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d13720009947bd"/>
  </p:sldMasterIdLst>
  <p:notesMasterIdLst>
    <p:notesMasterId xmlns:r="http://schemas.openxmlformats.org/officeDocument/2006/relationships" r:id="Rb88a0b2ff19f432b"/>
  </p:notesMasterIdLst>
  <p:sldIdLst>
    <p:sldId xmlns:r="http://schemas.openxmlformats.org/officeDocument/2006/relationships" id="256" r:id="R0fe565e9aa7a4b8f"/>
    <p:sldId xmlns:r="http://schemas.openxmlformats.org/officeDocument/2006/relationships" id="257" r:id="R025434d0a90849d1"/>
    <p:sldId xmlns:r="http://schemas.openxmlformats.org/officeDocument/2006/relationships" id="258" r:id="R32afaa5a466844ea"/>
    <p:sldId xmlns:r="http://schemas.openxmlformats.org/officeDocument/2006/relationships" id="259" r:id="Re6fd5fb3216e4e6f"/>
    <p:sldId xmlns:r="http://schemas.openxmlformats.org/officeDocument/2006/relationships" id="260" r:id="R787983e98e9f4045"/>
    <p:sldId xmlns:r="http://schemas.openxmlformats.org/officeDocument/2006/relationships" id="261" r:id="Rcfa5351c453f4107"/>
    <p:sldId xmlns:r="http://schemas.openxmlformats.org/officeDocument/2006/relationships" id="262" r:id="R29aad120ee0546d2"/>
    <p:sldId xmlns:r="http://schemas.openxmlformats.org/officeDocument/2006/relationships" id="263" r:id="R22bd7160521d4f04"/>
    <p:sldId xmlns:r="http://schemas.openxmlformats.org/officeDocument/2006/relationships" id="264" r:id="R5b12d513964f4051"/>
    <p:sldId xmlns:r="http://schemas.openxmlformats.org/officeDocument/2006/relationships" id="265" r:id="R9a6771539a404e32"/>
    <p:sldId xmlns:r="http://schemas.openxmlformats.org/officeDocument/2006/relationships" id="266" r:id="Ra74f070e31134d4f"/>
    <p:sldId xmlns:r="http://schemas.openxmlformats.org/officeDocument/2006/relationships" id="267" r:id="R59dbbb5d9b7e4c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1da7ea931d4a3f" /><Relationship Type="http://schemas.openxmlformats.org/officeDocument/2006/relationships/slideMaster" Target="/ppt/slideMasters/slideMaster1.xml" Id="Raed13720009947bd" /><Relationship Type="http://schemas.openxmlformats.org/officeDocument/2006/relationships/notesMaster" Target="/ppt/notesMasters/notesMaster1.xml" Id="Rb88a0b2ff19f432b" /><Relationship Type="http://schemas.openxmlformats.org/officeDocument/2006/relationships/presProps" Target="/ppt/presProps.xml" Id="R27be00f5cb084ff2" /><Relationship Type="http://schemas.openxmlformats.org/officeDocument/2006/relationships/viewProps" Target="/ppt/viewProps.xml" Id="R9884d72326b84bc9" /><Relationship Type="http://schemas.openxmlformats.org/officeDocument/2006/relationships/tableStyles" Target="/ppt/tableStyles.xml" Id="R70bb3116091f42d2" /><Relationship Type="http://schemas.openxmlformats.org/officeDocument/2006/relationships/slide" Target="/ppt/slides/slide1.xml" Id="R0fe565e9aa7a4b8f" /><Relationship Type="http://schemas.openxmlformats.org/officeDocument/2006/relationships/slide" Target="/ppt/slides/slide2.xml" Id="R025434d0a90849d1" /><Relationship Type="http://schemas.openxmlformats.org/officeDocument/2006/relationships/slide" Target="/ppt/slides/slide3.xml" Id="R32afaa5a466844ea" /><Relationship Type="http://schemas.openxmlformats.org/officeDocument/2006/relationships/slide" Target="/ppt/slides/slide4.xml" Id="Re6fd5fb3216e4e6f" /><Relationship Type="http://schemas.openxmlformats.org/officeDocument/2006/relationships/slide" Target="/ppt/slides/slide5.xml" Id="R787983e98e9f4045" /><Relationship Type="http://schemas.openxmlformats.org/officeDocument/2006/relationships/slide" Target="/ppt/slides/slide6.xml" Id="Rcfa5351c453f4107" /><Relationship Type="http://schemas.openxmlformats.org/officeDocument/2006/relationships/slide" Target="/ppt/slides/slide7.xml" Id="R29aad120ee0546d2" /><Relationship Type="http://schemas.openxmlformats.org/officeDocument/2006/relationships/slide" Target="/ppt/slides/slide8.xml" Id="R22bd7160521d4f04" /><Relationship Type="http://schemas.openxmlformats.org/officeDocument/2006/relationships/slide" Target="/ppt/slides/slide9.xml" Id="R5b12d513964f4051" /><Relationship Type="http://schemas.openxmlformats.org/officeDocument/2006/relationships/slide" Target="/ppt/slides/slide10.xml" Id="R9a6771539a404e32" /><Relationship Type="http://schemas.openxmlformats.org/officeDocument/2006/relationships/slide" Target="/ppt/slides/slide11.xml" Id="Ra74f070e31134d4f" /><Relationship Type="http://schemas.openxmlformats.org/officeDocument/2006/relationships/slide" Target="/ppt/slides/slide12.xml" Id="R59dbbb5d9b7e4c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803279826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f3cf3ed1a645ba" /><Relationship Type="http://schemas.openxmlformats.org/officeDocument/2006/relationships/notesMaster" Target="/ppt/notesMasters/notesMaster1.xml" Id="R487a96889a8940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704910b7e5485f" /><Relationship Type="http://schemas.openxmlformats.org/officeDocument/2006/relationships/notesMaster" Target="/ppt/notesMasters/notesMaster1.xml" Id="Rdbe082a5b8b0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be81c7955f43e3" /><Relationship Type="http://schemas.openxmlformats.org/officeDocument/2006/relationships/notesMaster" Target="/ppt/notesMasters/notesMaster1.xml" Id="Rea9a768ee02a4d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8af42070bb4b7a" /><Relationship Type="http://schemas.openxmlformats.org/officeDocument/2006/relationships/notesMaster" Target="/ppt/notesMasters/notesMaster1.xml" Id="Re0903c1cb2a34b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2782f824b441f1" /><Relationship Type="http://schemas.openxmlformats.org/officeDocument/2006/relationships/notesMaster" Target="/ppt/notesMasters/notesMaster1.xml" Id="Rc20c3e8a9ee446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fae863e45b4f23" /><Relationship Type="http://schemas.openxmlformats.org/officeDocument/2006/relationships/notesMaster" Target="/ppt/notesMasters/notesMaster1.xml" Id="R8e775b61320c4f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d417524fe454d" /><Relationship Type="http://schemas.openxmlformats.org/officeDocument/2006/relationships/notesMaster" Target="/ppt/notesMasters/notesMaster1.xml" Id="R9ff61386daf34d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393e9546404abd" /><Relationship Type="http://schemas.openxmlformats.org/officeDocument/2006/relationships/notesMaster" Target="/ppt/notesMasters/notesMaster1.xml" Id="Rf03ce170847f42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4b87fd8aec4af8" /><Relationship Type="http://schemas.openxmlformats.org/officeDocument/2006/relationships/notesMaster" Target="/ppt/notesMasters/notesMaster1.xml" Id="R52d1eace7e1d41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db595cc3b2451d" /><Relationship Type="http://schemas.openxmlformats.org/officeDocument/2006/relationships/notesMaster" Target="/ppt/notesMasters/notesMaster1.xml" Id="R058e37192fd245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a036f8b4534afd" /><Relationship Type="http://schemas.openxmlformats.org/officeDocument/2006/relationships/notesMaster" Target="/ppt/notesMasters/notesMaster1.xml" Id="Rcee4ca92049c40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c4e6abc7d6410f" /><Relationship Type="http://schemas.openxmlformats.org/officeDocument/2006/relationships/notesMaster" Target="/ppt/notesMasters/notesMaster1.xml" Id="R072cfae7d43d43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1f599de494c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9f2a969c404a93" /><Relationship Type="http://schemas.openxmlformats.org/officeDocument/2006/relationships/slideLayout" Target="/ppt/slideLayouts/slideLayout1.xml" Id="R94bc32e206b7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c32e206b7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6f852f0364a02" /><Relationship Type="http://schemas.openxmlformats.org/officeDocument/2006/relationships/image" Target="/ppt/media/image.png" Id="R7873b8c92be6490c" /><Relationship Type="http://schemas.openxmlformats.org/officeDocument/2006/relationships/image" Target="/ppt/media/image.svg" Id="Rad60ab25a03a4765" /><Relationship Type="http://schemas.openxmlformats.org/officeDocument/2006/relationships/image" Target="/ppt/media/image2.png" Id="Ra96919ae54604c94" /><Relationship Type="http://schemas.openxmlformats.org/officeDocument/2006/relationships/image" Target="/ppt/media/image2.svg" Id="R401024960e414b8f" /><Relationship Type="http://schemas.openxmlformats.org/officeDocument/2006/relationships/image" Target="/ppt/media/image3.png" Id="R5f93361adbc74ef3" /><Relationship Type="http://schemas.openxmlformats.org/officeDocument/2006/relationships/image" Target="/ppt/media/image3.svg" Id="R9ac86bc5c69d4167" /><Relationship Type="http://schemas.openxmlformats.org/officeDocument/2006/relationships/notesSlide" Target="/ppt/notesSlides/notesSlide1.xml" Id="R9c1434b473b44e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55f395ab549d4" /><Relationship Type="http://schemas.openxmlformats.org/officeDocument/2006/relationships/notesSlide" Target="/ppt/notesSlides/notesSlide2.xml" Id="R582d5e42ef3b44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68f03de2e4907" /><Relationship Type="http://schemas.openxmlformats.org/officeDocument/2006/relationships/image" Target="/ppt/media/image4.png" Id="R8522d4dbc0f04d0e" /><Relationship Type="http://schemas.openxmlformats.org/officeDocument/2006/relationships/image" Target="/ppt/media/image4.svg" Id="R9d673609b1644ee9" /><Relationship Type="http://schemas.openxmlformats.org/officeDocument/2006/relationships/image" Target="/ppt/media/image5.png" Id="R072d2d77a6394609" /><Relationship Type="http://schemas.openxmlformats.org/officeDocument/2006/relationships/image" Target="/ppt/media/image5.svg" Id="R11dffc8ce3eb4abf" /><Relationship Type="http://schemas.openxmlformats.org/officeDocument/2006/relationships/notesSlide" Target="/ppt/notesSlides/notesSlide3.xml" Id="R2cff49f0a6cc4c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4a3a1b6374205" /><Relationship Type="http://schemas.openxmlformats.org/officeDocument/2006/relationships/image" Target="/ppt/media/image6.png" Id="Re21a7ab420664777" /><Relationship Type="http://schemas.openxmlformats.org/officeDocument/2006/relationships/image" Target="/ppt/media/image6.svg" Id="R59109884c7f143f6" /><Relationship Type="http://schemas.openxmlformats.org/officeDocument/2006/relationships/notesSlide" Target="/ppt/notesSlides/notesSlide4.xml" Id="Rda16f990927045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4f2eff5674095" /><Relationship Type="http://schemas.openxmlformats.org/officeDocument/2006/relationships/notesSlide" Target="/ppt/notesSlides/notesSlide5.xml" Id="Re83220e2d46147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87971563e477c" /><Relationship Type="http://schemas.openxmlformats.org/officeDocument/2006/relationships/notesSlide" Target="/ppt/notesSlides/notesSlide6.xml" Id="R16485b7af87249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621d756754753" /><Relationship Type="http://schemas.openxmlformats.org/officeDocument/2006/relationships/image" Target="/ppt/media/image7.png" Id="Rb24162b49cf54914" /><Relationship Type="http://schemas.openxmlformats.org/officeDocument/2006/relationships/image" Target="/ppt/media/image7.svg" Id="R9d1a60fbc9e448cd" /><Relationship Type="http://schemas.openxmlformats.org/officeDocument/2006/relationships/image" Target="/ppt/media/image8.png" Id="R13913a35c20b44fd" /><Relationship Type="http://schemas.openxmlformats.org/officeDocument/2006/relationships/image" Target="/ppt/media/image8.svg" Id="R8f4bda037d0849d0" /><Relationship Type="http://schemas.openxmlformats.org/officeDocument/2006/relationships/image" Target="/ppt/media/image9.png" Id="Rbe6db3b5f1304e34" /><Relationship Type="http://schemas.openxmlformats.org/officeDocument/2006/relationships/image" Target="/ppt/media/image9.svg" Id="Ra97bc5467e244e4b" /><Relationship Type="http://schemas.openxmlformats.org/officeDocument/2006/relationships/notesSlide" Target="/ppt/notesSlides/notesSlide7.xml" Id="R68c40d61456f4d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d63dfa2a4426b" /><Relationship Type="http://schemas.openxmlformats.org/officeDocument/2006/relationships/image" Target="/ppt/media/image10.png" Id="R5688bf6d26ef4098" /><Relationship Type="http://schemas.openxmlformats.org/officeDocument/2006/relationships/image" Target="/ppt/media/image10.svg" Id="R964a4ce69c8c434d" /><Relationship Type="http://schemas.openxmlformats.org/officeDocument/2006/relationships/image" Target="/ppt/media/image11.png" Id="Rf39a8f96c3194420" /><Relationship Type="http://schemas.openxmlformats.org/officeDocument/2006/relationships/image" Target="/ppt/media/image11.svg" Id="Rdb54ca963ab24cfb" /><Relationship Type="http://schemas.openxmlformats.org/officeDocument/2006/relationships/image" Target="/ppt/media/image12.png" Id="R11108c9d85f3423f" /><Relationship Type="http://schemas.openxmlformats.org/officeDocument/2006/relationships/image" Target="/ppt/media/image12.svg" Id="R3a3173c91aea4d71" /><Relationship Type="http://schemas.openxmlformats.org/officeDocument/2006/relationships/notesSlide" Target="/ppt/notesSlides/notesSlide8.xml" Id="Rfee75d5b50d041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38e621d044a7c" /><Relationship Type="http://schemas.openxmlformats.org/officeDocument/2006/relationships/notesSlide" Target="/ppt/notesSlides/notesSlide9.xml" Id="Rb3ccd81c219f42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73d4165ba458c" /><Relationship Type="http://schemas.openxmlformats.org/officeDocument/2006/relationships/image" Target="/ppt/media/image13.png" Id="R96b1545bfcb1493e" /><Relationship Type="http://schemas.openxmlformats.org/officeDocument/2006/relationships/image" Target="/ppt/media/image13.svg" Id="R5409954dcc0e4c4f" /><Relationship Type="http://schemas.openxmlformats.org/officeDocument/2006/relationships/image" Target="/ppt/media/image14.png" Id="Re4ffb8939463420d" /><Relationship Type="http://schemas.openxmlformats.org/officeDocument/2006/relationships/image" Target="/ppt/media/image14.svg" Id="Rb988c54d16dc4c60" /><Relationship Type="http://schemas.openxmlformats.org/officeDocument/2006/relationships/image" Target="/ppt/media/image15.png" Id="R3b1137dffc1c43b9" /><Relationship Type="http://schemas.openxmlformats.org/officeDocument/2006/relationships/image" Target="/ppt/media/image15.svg" Id="R2e42aa57e8664bd2" /><Relationship Type="http://schemas.openxmlformats.org/officeDocument/2006/relationships/image" Target="/ppt/media/image16.png" Id="R1f879d808f874529" /><Relationship Type="http://schemas.openxmlformats.org/officeDocument/2006/relationships/image" Target="/ppt/media/image16.svg" Id="Rf55b09456bfd4d78" /><Relationship Type="http://schemas.openxmlformats.org/officeDocument/2006/relationships/image" Target="/ppt/media/image17.png" Id="R2734e2064f1b487a" /><Relationship Type="http://schemas.openxmlformats.org/officeDocument/2006/relationships/image" Target="/ppt/media/image17.svg" Id="R4c90dce5254b427b" /><Relationship Type="http://schemas.openxmlformats.org/officeDocument/2006/relationships/notesSlide" Target="/ppt/notesSlides/notesSlide10.xml" Id="R06c4205d7ffd44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a5c50fa164182" /><Relationship Type="http://schemas.openxmlformats.org/officeDocument/2006/relationships/notesSlide" Target="/ppt/notesSlides/notesSlide11.xml" Id="R3d7ed792eaef4a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0487bff734899" /><Relationship Type="http://schemas.openxmlformats.org/officeDocument/2006/relationships/notesSlide" Target="/ppt/notesSlides/notesSlide12.xml" Id="R259b3194dba843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1A4191-4431-4386-A2FF-160BCB46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BC256-64D7-4A19-968F-B6749D66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3C3BC-634F-4EC0-8823-A41D2705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5578D-998E-4AFF-8788-CCEE1264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3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DE3EF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7EB10-A362-4B79-A856-188A0677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Enterprise app generation for agentic product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CE4AE-6627-43CA-889E-AAF5E6E2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Config-first platform for governed backend, data, API, admin, frontend contract, MCP posture, and release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B809E-73F3-4972-A15B-A755F36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 w="9525">
            <a:solidFill>
              <a:srgbClr val="3B8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A1BEC-273B-4DFC-B161-7CF7455C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B8A5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8A5A"/>
                </a:solidFill>
                <a:latin typeface="Aptos"/>
                <a:ea typeface="Aptos"/>
                <a:cs typeface="Aptos"/>
              </a:rPr>
              <a:t>secure by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3BDA1-624D-4F64-91B3-B8CEFBE2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718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5"/>
          </a:solidFill>
          <a:ln xmlns:a="http://schemas.openxmlformats.org/drawingml/2006/main" w="9525">
            <a:solidFill>
              <a:srgbClr val="0B7C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444BF-B129-421A-94F0-0CB1B407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290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generated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F293F-1F9B-4DFA-934B-D32F2E0F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619E3-713A-43D8-BDF0-8DD43AD7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provider portable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0F561-5054-4F60-8C63-F4C7A7EF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814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9525">
            <a:solidFill>
              <a:srgbClr val="5B4B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13774-A068-4B59-B781-A1CA0CE4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386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B4BA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B4BA7"/>
                </a:solidFill>
                <a:latin typeface="Aptos"/>
                <a:ea typeface="Aptos"/>
                <a:cs typeface="Aptos"/>
              </a:rPr>
              <a:t>CI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46777-7A5F-41EE-A62E-2FF3BD0C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34"/>
          </a:solidFill>
          <a:ln xmlns:a="http://schemas.openxmlformats.org/drawingml/2006/main" w="9525">
            <a:solidFill>
              <a:srgbClr val="3142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44E3C-EE3B-4A9B-A46D-37F84F61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E3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E3EF"/>
                </a:solidFill>
                <a:latin typeface="Aptos"/>
                <a:ea typeface="Aptos"/>
                <a:cs typeface="Aptos"/>
              </a:rPr>
              <a:t>The v2 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48357-9F07-481B-AB6B-7161EB6C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468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8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8FA"/>
                </a:solidFill>
                <a:latin typeface="Aptos"/>
                <a:ea typeface="Aptos"/>
                <a:cs typeface="Aptos"/>
              </a:rPr>
              <a:t>No longer just a backend generator: a repeatable product-development system with app boundaries, frontend guidance, and release-ready evidence contracts.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5250C-D5C5-40A1-AE09-FDFA1C83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067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6"/>
          </a:solidFill>
          <a:ln xmlns:a="http://schemas.openxmlformats.org/drawingml/2006/main" w="9525">
            <a:solidFill>
              <a:srgbClr val="41566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3b8c92be6490c">
            <a:extLst>
              <a:ext uri="{96DAC541-7B7A-43D3-8B79-37D633B846F1}">
                <asvg:svgBlip xmlns:asvg="http://schemas.microsoft.com/office/drawing/2016/SVG/main" r:embed="Rad60ab25a03a47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1447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6BE84-0AAD-48F4-9B5E-2807F6C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90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intent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46FCD-8FCC-46FF-BDA4-220C5A4D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0E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0E8"/>
                </a:solidFill>
                <a:latin typeface="Aptos"/>
                <a:ea typeface="Aptos"/>
                <a:cs typeface="Aptos"/>
              </a:rPr>
              <a:t>manifest + app_gen/_config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2BF09-4C93-4878-AD3B-100F07DB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383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DD6F8-50F0-46C7-8A41-51FD4F91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717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8FE90-1941-477B-B8EC-CF50FB6D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067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6"/>
          </a:solidFill>
          <a:ln xmlns:a="http://schemas.openxmlformats.org/drawingml/2006/main" w="9525">
            <a:solidFill>
              <a:srgbClr val="41566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919ae54604c94">
            <a:extLst>
              <a:ext uri="{96DAC541-7B7A-43D3-8B79-37D633B846F1}">
                <asvg:svgBlip xmlns:asvg="http://schemas.microsoft.com/office/drawing/2016/SVG/main" r:embed="R401024960e414b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24765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18CE4-8E09-41D6-A8C2-FDDB9241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Generated product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692236-AA22-4FC4-9648-1C468958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0E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0E8"/>
                </a:solidFill>
                <a:latin typeface="Aptos"/>
                <a:ea typeface="Aptos"/>
                <a:cs typeface="Aptos"/>
              </a:rPr>
              <a:t>backend, database, API tests, UI contract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63446-C09F-49B9-BEDD-2C13C04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670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FDC705-ACCF-4255-B66C-C25D0590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004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531841-0CC3-498F-94A6-7AADA41B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3067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6"/>
          </a:solidFill>
          <a:ln xmlns:a="http://schemas.openxmlformats.org/drawingml/2006/main" w="9525">
            <a:solidFill>
              <a:srgbClr val="41566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3361adbc74ef3">
            <a:extLst>
              <a:ext uri="{96DAC541-7B7A-43D3-8B79-37D633B846F1}">
                <asvg:svgBlip xmlns:asvg="http://schemas.microsoft.com/office/drawing/2016/SVG/main" r:embed="R9ac86bc5c69d41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3505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ECA5E9-A575-463A-8DEF-968FAB70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071972-7CBE-44E3-B409-E9100F28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0E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0E8"/>
                </a:solidFill>
                <a:latin typeface="Aptos"/>
                <a:ea typeface="Aptos"/>
                <a:cs typeface="Aptos"/>
              </a:rPr>
              <a:t>validate, drift, tests, handoff, 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234EAC-EF97-4684-B279-E81A996F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V2 | June 2026</a:t>
            </a:r>
          </a:p>
        </p:txBody>
      </p:sp>
    </p:spTree>
    <p:extLst>
      <p:ext uri="{BB962C8B-B14F-4D97-AF65-F5344CB8AC3E}">
        <p14:creationId xmlns:p14="http://schemas.microsoft.com/office/powerpoint/2010/main" val="12500524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94085-D35C-4F0F-98E7-265C6F6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81442-FB9C-4EB1-A83A-A8BB7E71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B2CEC-CAB6-4658-ABC4-5550DF97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WHY IT EXISTS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94A97-C1E7-44A3-B41F-32401255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Enterprise teams need agent speed without backend ambiguity.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58842-7C26-49C4-989A-B4020398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The framework sits between slow bespoke delivery and fragile raw generation: it makes intent explicit, mechanics repeatable, and review evidence machine-readable.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ACD8E-FB87-4587-888C-D373A0A0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AF496-868B-44D7-9FCF-5FC3B33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8FF4D-077C-4581-BA22-E3DB89E1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B435C-67A4-4926-A2F1-CFC71D1D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existing overview deck plus docs/PRODUCT_WORKSPACE_CONTRACT.md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6C418-CCA5-47C9-B962-388C1A9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13ADA-2EBA-476D-A9C5-E70645B3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Hand-built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1E2D8-7104-4BF4-BBF6-1D93BB6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High judgment, slow starts, repeated security/provider/test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D383B-9A6C-47A4-AB72-0852D854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81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38487-FF50-4233-A73E-2C974C9A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A2871-8641-483B-97FC-556EA5C5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7"/>
          </a:solidFill>
          <a:ln xmlns:a="http://schemas.openxmlformats.org/drawingml/2006/main" w="11430">
            <a:solidFill>
              <a:srgbClr val="B23A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FA6AC-3DC1-4568-B244-3275AE4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Raw agent-built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82F8E-6D17-4202-B82E-E4AB6EEC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Fast first draft, unclear ownership, hidden conventions, review risk.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7F1A4-D119-4CD3-A95D-49F2A44A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557B3-61BD-48F8-A9E5-BFD8E836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DE08C-B984-4353-8602-757B7945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 w="11430">
            <a:solidFill>
              <a:srgbClr val="3B8A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D4941-BD8C-4743-A9C0-AB08A55F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 Framework 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266A9-6C71-48A1-8EC0-0A4E3321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Fast baseline plus protected extension points, drift checks, release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522C1-5CAA-4DA5-83FD-936B3725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48200"/>
            <a:ext cx="803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0"/>
          </a:solidFill>
          <a:ln xmlns:a="http://schemas.openxmlformats.org/drawingml/2006/main" w="9525">
            <a:solidFill>
              <a:srgbClr val="2030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7C694-5DF5-41D7-85F2-620990BE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value is faster trust, not just faster code.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0EBD5-F885-411B-947E-966C2B26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244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Reviewers inspect explicit model intent, generated diffs, and evidence artifacts instead of reverse-engineering every backend decision.</a:t>
            </a:r>
          </a:p>
        </p:txBody>
      </p:sp>
    </p:spTree>
    <p:extLst>
      <p:ext uri="{BB962C8B-B14F-4D97-AF65-F5344CB8AC3E}">
        <p14:creationId xmlns:p14="http://schemas.microsoft.com/office/powerpoint/2010/main" val="17313072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A792F-4122-42D3-AE3B-15E1CEA0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9367E-E41A-44BB-9366-B45215A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55C5E-E5EA-452F-BEB3-F6E566B8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558CF-68D1-408F-8AED-7F565596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Product teams work from a product repo; the framework remains upstream.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7057F-1DD4-475C-9C3E-B40DEB70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The golden path creates a sibling downstream app folder, rewrites local framework provenance, and keeps product-owned surfaces separate from framework internals.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22157-45DB-47C1-9EBA-C08B01C0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AC7B8-8F4B-49AC-AEFC-DC9350FF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B2CAC-968D-4F32-BC33-95B7317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B7949-BB4E-4908-BA94-33D26E4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docs/PRODUCT_WORKSPACE_CONTRACT.md, docs/GENERATED_OWNERSHIP.md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EB34C-0F5A-4802-9988-A8E1639B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286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757AF-F93E-462E-A0C2-35EC9022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2d4dbc0f04d0e">
            <a:extLst>
              <a:ext uri="{96DAC541-7B7A-43D3-8B79-37D633B846F1}">
                <asvg:svgBlip xmlns:asvg="http://schemas.microsoft.com/office/drawing/2016/SVG/main" r:embed="R9d673609b1644e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381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946AD-9B25-4847-BE0C-CBF9ED8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Upstream app-framework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FA27-1D20-4A71-A9DB-9E3E86CD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app_gen/src + templates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B0731-7B8C-4193-B256-98EE95A0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appfw-runtime + provider packages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D5B60-2C3B-4740-95AC-3B4FB0A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root scripts/appfw CLI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F38AE-3B57-489F-9F35-A950C59D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docs, contracts, certification harnesses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E929F-CBF9-4FE8-9351-9EAC7FE0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4286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2E82B-C8CB-47A0-AC3E-BE52E47A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6E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d2d77a6394609">
            <a:extLst>
              <a:ext uri="{96DAC541-7B7A-43D3-8B79-37D633B846F1}">
                <asvg:svgBlip xmlns:asvg="http://schemas.microsoft.com/office/drawing/2016/SVG/main" r:embed="R11dffc8ce3eb4a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67600" y="2381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22D27-A823-4A7C-BA82-39FFFEC7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Downstream product 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4E709-551F-4726-88B9-2CB3C130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990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.appfw/manifest.yaml + appfw.lock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7340E-7623-49A0-9A03-89983A58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0995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app_gen/_config application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DB7BE-BBA8-403D-99D1-EC8B0138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000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backend handlers/services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BFEE7-7F7A-4639-9727-ADDB9257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database package, api_tests, frontend, 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E2186-A87C-40F5-809D-CDE0A81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0"/>
          </a:solidFill>
          <a:ln xmlns:a="http://schemas.openxmlformats.org/drawingml/2006/main" w="9525">
            <a:solidFill>
              <a:srgbClr val="2030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881A52-5A4E-432D-B387-2EF251F7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040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appfw new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694953-EAD5-407F-BB4F-8CF1314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05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FE0E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CFE0E8"/>
                </a:solidFill>
                <a:latin typeface="Aptos Mono"/>
                <a:ea typeface="Aptos Mono"/>
                <a:cs typeface="Aptos Mono"/>
              </a:rPr>
              <a:t>../customer-crm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2AD75-3F8C-4177-8B30-BDFE2874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338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FE0E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FE0E8"/>
                </a:solidFill>
                <a:latin typeface="Aptos Mono"/>
                <a:ea typeface="Aptos Mono"/>
                <a:cs typeface="Aptos Mono"/>
              </a:rPr>
              <a:t>--profile crm-sample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4F5CF-1323-4F50-AB3F-51E617E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147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56339-9F19-41DC-AFAC-4447DFC2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51DADF-9F75-4908-8510-AD8BC205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14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6E74B6-8C4A-4B65-BE23-D5FFC379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766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FB41FA-E43F-4E21-A5E7-34875345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19750"/>
            <a:ext cx="927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111A2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C04000-FD2C-4BD5-9810-EC9FB739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959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rPr>
              <a:t>scripts/appfw new ../customer-crm --from current --profile crm-sample --generate --json</a:t>
            </a:r>
          </a:p>
        </p:txBody>
      </p:sp>
    </p:spTree>
    <p:extLst>
      <p:ext uri="{BB962C8B-B14F-4D97-AF65-F5344CB8AC3E}">
        <p14:creationId xmlns:p14="http://schemas.microsoft.com/office/powerpoint/2010/main" val="8465528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16F823-3AE2-4722-80AE-154819C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0E941-F588-4DFC-85FD-BF34E2B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85EAD-6F06-47D7-940A-DB997F75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GENERATION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2B37D-C356-4E2F-9344-4841B6FB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One application model drives generated backend, database, API, frontend, infra, and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E68DC-78C3-457C-83D7-133A97BE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Generation is a product cascade: change intent, validate it, regenerate deterministic artifacts, review drift, then retain the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BE4E3-2445-4582-9F01-CADCD115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A309B-FEF4-4F9E-9FB0-62AB90B1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A00C6-45EA-4FB5-8323-C7A25298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55BE2-AC35-40CC-A79B-D27C3F72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docs/19_PRODUCT_DEVELOPER_GOLDEN_PATH.md, app_gen/src/frontend.rs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06C63-A2C6-4BCF-97E8-F6AE341A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990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C0F46-7BEE-402D-95D0-D23271F1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DE5AE-B385-439D-B30D-A6C0A2E3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724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E1ABA-0455-435D-A0DA-B1BA80D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.appfw/manifest.yaml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66542-4AA4-4328-AC83-74664CA1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app identity, data sources, schema bindings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011C7-3150-4D26-802D-4749ECB8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990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C486D-30D5-4690-894E-D3FD045F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05460-C139-4D78-9EF6-A86D10D0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724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B4BA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4BA7"/>
                </a:solidFill>
                <a:latin typeface="Aptos"/>
                <a:ea typeface="Aptos"/>
                <a:cs typeface="Aptos"/>
              </a:rPr>
              <a:t>Application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C44E1-B30B-4019-B2EF-DD8532F9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app_gen/_config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6953A-8D3C-42A4-A9EC-A43B5D71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schemas, entities, relationships, tests, providers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038C2-ADE6-4488-A6C0-EB46E4D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990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10723-A98D-47EE-B122-D95D77E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BF63F-F741-4E62-B716-BFA702A1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724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B8A5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3B8A5A"/>
                </a:solidFill>
                <a:latin typeface="Aptos"/>
                <a:ea typeface="Aptos"/>
                <a:cs typeface="Aptos"/>
              </a:rPr>
              <a:t>Human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2810B-FC4B-45DB-8EC0-27EBB0DD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handlers +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5D486-7E25-4ADD-A297-3B114885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custom methods, workflows, integrations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B4B30F-B5DE-464B-8C8B-D1FF69CE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0955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0"/>
          </a:solidFill>
          <a:ln xmlns:a="http://schemas.openxmlformats.org/drawingml/2006/main" w="9525">
            <a:solidFill>
              <a:srgbClr val="20304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a7ab420664777">
            <a:extLst>
              <a:ext uri="{96DAC541-7B7A-43D3-8B79-37D633B846F1}">
                <asvg:svgBlip xmlns:asvg="http://schemas.microsoft.com/office/drawing/2016/SVG/main" r:embed="R59109884c7f143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2838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53F20-3F28-4763-A8EB-B6D76C43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528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+ generate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3A0BD-BE4D-4FC6-9131-1B2B8DF6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3380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contract checks, diagnostics, deterministic artifact manifest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D69E5F-61EF-4F9C-9703-A8411ACD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195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7067A6-1F9C-4A7E-B1B2-2879DC5E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07724-3ACF-434C-B8AC-64E18163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504CA7-295E-4049-A09E-C6DBF3FA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81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889F2F-837F-4FB1-8693-845FBBC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5"/>
          </a:solidFill>
          <a:ln xmlns:a="http://schemas.openxmlformats.org/drawingml/2006/main" w="9525">
            <a:solidFill>
              <a:srgbClr val="0B7C9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6A74FB-8684-4396-BC7B-941D70B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Rust backend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C62FD2-4FF2-4CFE-9C99-FE909C3E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routes, schemas, handler defaults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215AF5-F618-4270-B3DA-7AEFF4DF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90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 w="9525">
            <a:solidFill>
              <a:srgbClr val="3B8A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879266-F845-4B3B-BF3A-88199D62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Database package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FA64A7-B881-4C5F-BC0E-C7561C4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migrations and baseline package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332A8-926B-4B1B-AB68-9003544E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9F3D1F-DF7A-490B-8195-DA5A5C5A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385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API tests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CA554B-D1C6-4774-960B-6D1E5D51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671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generated product scenarios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27AC66-A566-4471-BF81-99E52796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05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9525">
            <a:solidFill>
              <a:srgbClr val="5B4B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50F899-6D9E-4112-80AF-D38FF12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385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Frontend contract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4E4169-076D-451D-83AE-EA658937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UI schema, operations, ownership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6C92DE-E0BE-4415-B4E8-976A2F84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195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7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853CFD-359A-43EA-9E11-C2B52CD0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529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infra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EF9C60-7099-4F20-8859-2482A99F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815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provider services in compose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0FBFE9-DDB1-45B4-8064-38DBAD9A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847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111A2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DDF370-6116-4707-BCEB-8CF6ABA6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72150"/>
            <a:ext cx="824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rPr>
              <a:t>scripts/appfw validate --json     scripts/appfw generate     scripts/appfw generate --check --json</a:t>
            </a:r>
          </a:p>
        </p:txBody>
      </p:sp>
    </p:spTree>
    <p:extLst>
      <p:ext uri="{BB962C8B-B14F-4D97-AF65-F5344CB8AC3E}">
        <p14:creationId xmlns:p14="http://schemas.microsoft.com/office/powerpoint/2010/main" val="9113558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CC627-09B5-4841-B236-BF6693B5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8CDFA-25FB-4A61-9FC8-47A68A62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A52C3-DCE3-4AA2-BBFF-FE1EA293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DEVELOPER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65C93-1CCF-43A6-82FD-263ECDC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golden path is clear enough for product developers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30052-CA72-464A-85F8-75CDA2DA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The command surface turns app creation, modeling, custom methods, local run, verification, and release certification into a repeatable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EF969-A9E2-4DDD-8622-196D235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F3E6E-34E2-486D-9DD0-A1891946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CF9ED-B8D8-43C2-8DC0-D8ED5352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DBC69-0A1B-4816-A50B-C900DCD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docs/19_PRODUCT_DEVELOPER_GOLDEN_PATH.md, docs/11_APPLICATION_LIFECYCLE.md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66FF1-5042-4537-9029-C44DDF23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1CB6A-4F1B-49EB-A807-90B3741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3AD1A-AB71-4933-B98B-1BDB6624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155FA-48A2-4893-BBAF-A1865EBA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2F09D-2AC8-43EC-B5D4-66B210DB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doctor, validate, list profiles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C43BE-926D-4272-96AF-6438A42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C47C6-297D-4F0F-8A23-C64EBCE6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8FE3E-CCCD-433F-BA11-CD525B29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5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342F9-AC98-46F7-A3CA-AC9B2A66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5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4D414-020A-444E-9E6B-E599F941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A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8A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1195A-336E-494E-9089-A2ACA8B1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F1F82-8825-46CD-9786-F5267CDA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appfw new ../product --generate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5544A-A03A-4CC9-8FC4-E2FDE47C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956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68B87-B23A-456A-84F2-DA12BF65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575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80A32F-77DC-4DD5-935D-D1115325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B2874-D140-4D0F-9466-905A675A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4E9BF5-A0E3-4FFA-934D-0B369B93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4B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4B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0B97E-A672-4ED6-A61F-FE25E36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5E2AC0-C0F5-4ACF-8545-6ED868D8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manifest + app_gen/_config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9E1AA-F011-457E-8E81-B7335300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956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2B82B5-8856-4CAC-9C79-243ED673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58DCD-FA7C-4000-A362-32EEA90A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DB39C5-F863-4702-BDB8-3BBD36E9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71F85-4B63-480B-BA66-3B7AA01E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C18A08-AA24-4BA1-948C-CF866AA5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957B0D-5FCC-44C4-AA47-22048AA0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backend, DB, API tests, UI contract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06374B-5F9F-462E-9C4D-A8C1895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956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B8DBBB-39B1-4296-8B91-35A9CFAC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575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E0A7D7-B770-4B7B-BB2A-EFBDEF3F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F32E1F-D01A-4F7D-B7A7-4EB8C032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E61B40-3DB6-46D7-BC0B-D92189AC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2B0CFB-9D4D-43E3-87D4-71C7EB86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Extend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9A6F3D-B758-427D-AE72-CFB0DDEA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custom handlers + services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0B6CC4-00C0-438C-95D4-34DA46AD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956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8823AF-6EEB-46AC-B199-7D2A54CA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575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448CA8-FA96-4C5B-A508-A9FEF278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744A93-99F5-4AA7-840B-BABADB9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DE8F91-2A8A-4850-9824-3BEEE433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24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EEADE0-104E-4EA5-91AC-0BDC0AC5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670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61331B-A352-4290-BBC2-8DFBD335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718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test, handoff, certify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C166C5-867D-41C6-8F0F-03C95611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9639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0B7C9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03AE47-8092-4375-8884-C2358B8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Inner loop when live services are not running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C13D7D-8AE4-4C13-9B7E-D5DF880E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101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111A2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360198-046B-4929-A664-67130FA2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rPr>
              <a:t>scripts/appfw validate --json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A92740-B5C5-43D2-BCCB-00B3FA3A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111A2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E42073-0847-42EB-BDD5-699CFD57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863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rPr>
              <a:t>scripts/appfw test --fast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4EA29B-E403-47CB-B6F7-4A8F2DD3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01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111A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EA839F-ACFF-4222-B990-81619E7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8635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rPr>
              <a:t>scripts/appfw handoff --json</a:t>
            </a:r>
          </a:p>
        </p:txBody>
      </p:sp>
    </p:spTree>
    <p:extLst>
      <p:ext uri="{BB962C8B-B14F-4D97-AF65-F5344CB8AC3E}">
        <p14:creationId xmlns:p14="http://schemas.microsoft.com/office/powerpoint/2010/main" val="840304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7BC9F-5C3F-496D-B2EE-C50BE08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5B670-4A5D-4AAC-96C0-97901DCD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D7A50-E19A-4AC6-A979-A5E89516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RUNTIME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2BFFF-57EE-4AC3-BC52-1774F5BD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Generated mechanics and product judgment meet at stable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17005-CB27-48EA-81A6-AA417D20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The architecture is valuable because it keeps generated routing, human-owned behavior, shared data access, provider compilation, and evidence surfaces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684EE-B5B7-429E-834A-F3231F94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E809A-143F-4436-AE3F-DA8E3D3D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683A9-8602-4D9D-A4AC-2FC9B6FE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C58AA-4C80-448F-A91A-7FBC7F5B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docs/PRODUCT_WORKSPACE_CONTRACT.md, docs/RUNTIME_OWNERSHIP_INVENTORY.md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4796B-951E-4A5E-81D7-94D89A5C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C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027F5-588C-478F-AD29-099B7E78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D628E-E2E3-4F33-ACCD-AC96430E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5E232-DE7D-4840-837B-34F3F142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 / GraphQL / Admin / 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1721B-3CA1-4532-B04D-57702E07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4B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175B1-ED0D-4212-8064-CC7B1F8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FA921-D2B9-4A14-A952-B282FEC4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Generated adapters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798F6-86EE-4751-99FC-08D40CD9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43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routes, schemas, default handlers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B1EEC-30A7-41C4-B473-A6F2F269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CD5F0-8CFE-4BBF-9D05-2C723014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5EB6E-D660-4CD9-9F1D-45DEE594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extensions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13A04-9904-42D8-B02C-A37C9E36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entity handlers +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4E992-D590-494B-A17F-56ECDFA5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CAAE5-5711-4796-B517-BBD3C41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2E72E-A278-4B1B-BBA8-AEA936B1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BBF38-5283-4A5A-BF69-E4F40687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339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DataAccess + QueryIR + auth/audit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3CC1D8-65AE-4ED2-A166-FAF92C1B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146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E37D0-B405-45FA-B1BA-8586837F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2895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187B8-60EB-4E96-A2F8-77647F1E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8100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D5BE8-9578-45A5-BD4C-29FF8B9D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9243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51CC1D-64CD-440F-A1CD-1401506B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053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D2E75-0B65-4F6D-AA4E-22DF900B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81965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9887F4-FE0C-485B-BAF3-A523BA3F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7620">
            <a:solidFill>
              <a:srgbClr val="B779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27D319-41C9-4031-8138-BF58F516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577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1A0C17-557A-4273-8227-E7D7EF60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7620">
            <a:solidFill>
              <a:srgbClr val="B7791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9DECC7-96A8-44A6-9B9F-6DC7F87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577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145611-328F-4A75-A927-EA1C04F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95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7620">
            <a:solidFill>
              <a:srgbClr val="B779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C63D5-1FF4-4815-AE87-85DB8114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244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MS SQL Server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B20D0A-E16E-494B-9AC9-8A5B95C0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95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7620">
            <a:solidFill>
              <a:srgbClr val="B7791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93E491-4D48-4D24-A8D7-5C9A606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244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Snowflake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069A81-866B-4EB9-93C7-22C0EA24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3040"/>
                </a:solidFill>
                <a:latin typeface="Aptos"/>
                <a:ea typeface="Aptos"/>
                <a:cs typeface="Aptos"/>
              </a:rPr>
              <a:t>Durable app behavior follows: generated route -&gt; handler adapter -&gt; product handler/service -&gt; DataAccess -&gt; provider.</a:t>
            </a:r>
          </a:p>
        </p:txBody>
      </p:sp>
    </p:spTree>
    <p:extLst>
      <p:ext uri="{BB962C8B-B14F-4D97-AF65-F5344CB8AC3E}">
        <p14:creationId xmlns:p14="http://schemas.microsoft.com/office/powerpoint/2010/main" val="10163333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F5E4C-E4C5-4F71-B743-FC5154B6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AAE16-BC23-427E-9C1E-AB95A1D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B7D6E-4902-41A3-9842-B72004CF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DATA-SOURCE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6AAD-C30D-4043-B6A3-AAE85D28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Provider selection is topology plus certification, not hand-edited local infra.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28AF3-B00A-459D-AE71-4985FEB1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Products declare active providers and schema bindings, regenerate local services, then prove provider semantics through certification artifacts.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A1A6A-0602-434F-9591-04D30BB5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0E6BF-7E90-4603-858C-866833C2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076B0-E59E-4F40-BF5A-9C562F01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F2349-063D-4D77-919B-EECED8D7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docs/19_PRODUCT_DEVELOPER_GOLDEN_PATH.md, docs/11_APPLICATION_LIFECYCLE.md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0FB44-F482-4C17-B58F-B727611F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5"/>
          </a:solidFill>
          <a:ln xmlns:a="http://schemas.openxmlformats.org/drawingml/2006/main" w="9525">
            <a:solidFill>
              <a:srgbClr val="0B7C99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162b49cf54914">
            <a:extLst>
              <a:ext uri="{96DAC541-7B7A-43D3-8B79-37D633B846F1}">
                <asvg:svgBlip xmlns:asvg="http://schemas.microsoft.com/office/drawing/2016/SVG/main" r:embed="R9d1a60fbc9e448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25527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4E5EF-E84A-445E-96B2-37564EAD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.appfw/manifest.yaml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7E126-26CE-41F6-8C52-368E5FC6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identity, providers, data sources, schema roles.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B82E6-FF3C-440A-BED7-10BC1F9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9525">
            <a:solidFill>
              <a:srgbClr val="5B4BA7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13a35c20b44fd">
            <a:extLst>
              <a:ext uri="{96DAC541-7B7A-43D3-8B79-37D633B846F1}">
                <asvg:svgBlip xmlns:asvg="http://schemas.microsoft.com/office/drawing/2016/SVG/main" r:embed="R8f4bda037d0849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3676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71981-BF03-46C9-AEF5-874BDD9B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data_sources/_res.yaml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0A5CB-E205-4187-B1DB-B07DB20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Provider type and per-environment connection metadata.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7F3D4-89FD-4A5F-A54F-DBB26CE7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 w="9525">
            <a:solidFill>
              <a:srgbClr val="3B8A5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db3b5f1304e34">
            <a:extLst>
              <a:ext uri="{96DAC541-7B7A-43D3-8B79-37D633B846F1}">
                <asvg:svgBlip xmlns:asvg="http://schemas.microsoft.com/office/drawing/2016/SVG/main" r:embed="Ra97bc5467e244e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4800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9DA5A-A0A4-4CD2-BC52-997D58FE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schema _res.yaml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6BDA1-F063-48ED-818A-82A4D98E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292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Each schema binds to one configured data source.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B750E-B744-433B-8DBB-6011A03F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814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1D53E-24B1-42A2-90FA-5733620E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433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D3E43-18FF-4B8E-A50A-0BE69648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057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0"/>
          </a:solidFill>
          <a:ln xmlns:a="http://schemas.openxmlformats.org/drawingml/2006/main" w="9525">
            <a:solidFill>
              <a:srgbClr val="2030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3262B-8078-4AFD-8964-7D935C4B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regenerate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D961A-E86D-47CD-939B-48B55643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814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podman-compose.yml and generated product artifacts follow topology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6393F-BF29-4036-A9AA-E8413643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814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79392-56C3-44EB-BD25-4BE7D897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433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0E1D0-F2A0-4DB3-981E-A2CEAF5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C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16E4A-C726-4C94-8D53-92DF2322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D1678-72FC-46EE-91C1-CC549A2C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local CRM default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6CB3C2-A316-4BCE-B4CA-631B5B3F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765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certify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F921F4-E957-4A2D-8C8E-A6B7831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A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49749E-6016-482D-93CE-808DD7D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529141-EA05-4BA5-90D9-41908F44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document provider parity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AC12EE-9CEA-40DA-A492-0B17CE1B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528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B8A5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B8A5A"/>
                </a:solidFill>
                <a:latin typeface="Aptos"/>
                <a:ea typeface="Aptos"/>
                <a:cs typeface="Aptos"/>
              </a:rPr>
              <a:t>certify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760F13-C16A-482E-A7CC-8FCFFDA3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4174E0-019A-4FCB-99A1-D4ABE0BC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52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MS SQL Server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91526A-93EA-40FB-A21F-EA0BCAF8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enterprise SQL target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29E150-1353-4922-9DDA-536A3A00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2291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certify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1CA23A-9238-4C59-9137-C10C212B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4B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E07F2E-B714-46C8-90A8-544A599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292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Snowflake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6B652F-56B8-4C95-A5A8-B9A1AA9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analytics/provider proof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0A66D8-0FC8-4963-B37D-6270180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B4B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4BA7"/>
                </a:solidFill>
                <a:latin typeface="Aptos"/>
                <a:ea typeface="Aptos"/>
                <a:cs typeface="Aptos"/>
              </a:rPr>
              <a:t>certify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75542C-7FF1-4AC4-974E-E5BBBC2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912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111A2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7C63E9-FC8F-49B4-AD3D-CFC4266B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674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rPr>
              <a:t>scripts/appfw provider-test --all --json</a:t>
            </a:r>
          </a:p>
        </p:txBody>
      </p:sp>
    </p:spTree>
    <p:extLst>
      <p:ext uri="{BB962C8B-B14F-4D97-AF65-F5344CB8AC3E}">
        <p14:creationId xmlns:p14="http://schemas.microsoft.com/office/powerpoint/2010/main" val="16294447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E90B49-2AC2-413A-AD1A-1B0B864E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3C3AD-EB2A-47D6-B362-FB1F137B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55CA0-E842-47E8-BA10-0A17855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DEVELOPER EXPERIENCES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E0729-4060-43B8-B7B7-3BA8D45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Admin UI, bespoke frontend, and MCP are separate surfaces with different release posture.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34610-A158-4713-B441-5B299196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The CRM reference app shows how product teams build their own UI from generated contracts while the framework-owned admin UI remains model-driven.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6554C-602D-4E14-AC62-B226CD1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1A506-C762-4B5B-8FEB-AE73991F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E2993-D7AD-4A67-AB9B-A23C27ED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E52D0-627B-43C4-8456-D245F09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examples/products/crm/frontend/.appfw-ui/scaffold-manifest.json; Source: docs/10_ROADMAP.md, docs/SECURITY_THREAT_MODEL.md, docs/17_AGENTIC_MCP.md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32901-FBDE-433F-9B22-5B238806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086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41F98-171F-4C70-8CDC-6A3388EB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8bf6d26ef4098">
            <a:extLst>
              <a:ext uri="{96DAC541-7B7A-43D3-8B79-37D633B846F1}">
                <asvg:svgBlip xmlns:asvg="http://schemas.microsoft.com/office/drawing/2016/SVG/main" r:embed="R964a4ce69c8c43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26860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EF53D-577C-42E6-9316-64E1FF47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Admin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9028F-6FA3-498F-A5D5-C19CCDE7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609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Framework-owned operations console: model browsing, records, filters, diagnostics, route examples.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BBE3E-9419-49D5-807F-808A9D4C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Backend-hosted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791BA-7290-44A3-A0AA-4EBB0B23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http://127.0.0.1:8080/admin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918BF-F0A6-43B2-847F-276E937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086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F0F5C-8F54-493E-B229-B81CAE9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a8f96c3194420">
            <a:extLst>
              <a:ext uri="{96DAC541-7B7A-43D3-8B79-37D633B846F1}">
                <asvg:svgBlip xmlns:asvg="http://schemas.microsoft.com/office/drawing/2016/SVG/main" r:embed="Rdb54ca963ab24c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86300" y="26860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09D73-235E-474D-B251-08B6136B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47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Product 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3DBC3-F812-4F15-8EBC-3171F4A7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609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Bespoke app in frontend/: CRM reference architecture, generated UI contract, human-owned feature screens.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78D7E-B2B8-4965-84B0-C9B3FE36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B8A5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B8A5A"/>
                </a:solidFill>
                <a:latin typeface="Aptos"/>
                <a:ea typeface="Aptos"/>
                <a:cs typeface="Aptos"/>
              </a:rPr>
              <a:t>CRM contract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22AB7-4F2C-4112-AB4C-DC281C59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24 entities | 30 relationships | 4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6FA22-6E4E-422B-9C8D-CF508102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086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FDC1B-E92C-43AC-902C-13272BC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08c9d85f3423f">
            <a:extLst>
              <a:ext uri="{96DAC541-7B7A-43D3-8B79-37D633B846F1}">
                <asvg:svgBlip xmlns:asvg="http://schemas.microsoft.com/office/drawing/2016/SVG/main" r:embed="R3a3173c91aea4d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01050" y="26860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3125A5-921D-4CD1-AE7A-F2F8E12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8656B-B7AA-4340-ABFC-AAC496B1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609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Agentic operation surface. Release posture is disabled unless explicitly certified and retained.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4D77D-62DD-4BB3-88A2-10E1255B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Release 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B975F-2CDF-4FA1-9853-7FC8EBB3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0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APP_MCP_ENABLED=false unless certified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A06BC7-2C14-44AB-BB8A-E4EB456F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10200"/>
            <a:ext cx="824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111A2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A5ED92-53B1-409C-80DA-95E88F5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802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8F4F6"/>
                </a:solidFill>
                <a:latin typeface="Aptos Mono"/>
                <a:ea typeface="Aptos Mono"/>
                <a:cs typeface="Aptos Mono"/>
              </a:rPr>
              <a:t>cd examples/products/crm/frontend &amp;&amp; npm run appfw:check &amp;&amp; npm run build</a:t>
            </a:r>
          </a:p>
        </p:txBody>
      </p:sp>
    </p:spTree>
    <p:extLst>
      <p:ext uri="{BB962C8B-B14F-4D97-AF65-F5344CB8AC3E}">
        <p14:creationId xmlns:p14="http://schemas.microsoft.com/office/powerpoint/2010/main" val="7832760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867C6F-1FD2-4AC3-BA7E-8816ECBD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6BAFA-C8FC-4709-832B-CDBA8083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3C129-2475-491F-A268-03F2B2A6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EVIDENCE IN 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0CAE9-0456-4A11-9FEA-DE25A045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CLI makes evidence production part of the product, not an afterthought.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4A0C7-424F-485C-8E68-EDB5AAFC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Release confidence comes from retained JSON artifacts across validation, drift, tests, provider certification, supply chain, security, operations, performance, and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2FC95-60FD-4264-9780-31F8B266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B7372-881B-4F73-B7A1-1F452A77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BB4F1-FA16-49E4-ADCF-1685BC17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A92E6-F944-4331-ABAA-E6C5F86F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scripts/appfw --help, docs/CLI.md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641C3-BF80-4BFD-B8CC-250B570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57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A9370-3E27-4097-87F0-F779F75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2CB81-5342-4126-AE54-B3FA5570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Inner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EB427-8D4C-42F2-B679-98A22DF1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681E7-F0B3-40EE-B45E-031FEF8E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doctor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2D9B9-C252-4904-86E6-9E3FD066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B9EE2-8640-4245-84C3-80FC267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051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validate --json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3AF2E-B308-4C09-BC1F-E2593AB1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AA508-64AB-41B7-88F1-ADA7EEA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generate --check --json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7B45F-F99F-47A9-B928-3BB0D95C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004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B019A-50C2-4F0E-8CE4-56189297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670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test --fast --json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6CA4A-9C66-4C50-9243-38727E42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457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AED4F-E691-4ED9-A511-95870EB0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EC72D-D044-4AB1-A47B-D9C9273C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729C4-6028-4B70-885B-6D484421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15076-BD82-4682-B659-2D5FB82C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manifest --json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DFB87D-9315-4009-89C9-14E830CF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384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FC1FB-8195-48DC-B5E0-24DFD834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explain ownership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06CF8-C92D-4EF4-8966-DCF824EE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D7781-90C6-47C6-A3F7-C8C21A6F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670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boundary-check --json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8F19BC-B2A6-4B67-AB1F-80A8386E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4DC17D-43DA-4374-89FB-CD055D02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670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handoff --json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488227-45B4-4F86-955B-DB905DFF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57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7D1D6-E696-4F73-A933-2E904437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616A4B-B791-4CBA-919E-3B8454E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Supply chain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45E4A6-7107-4759-8C86-59EAB367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95A556-5478-4C62-8A74-A49EF656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dependency-check --strict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76016F-984B-4E82-8ECE-177586B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910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C6D6E1-B342-4C5E-AF07-19C26071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577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dependency-plan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CD92D2-63E1-41CA-B8C5-669B4B5B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997F51-8E68-4A6E-91EB-37569F52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96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dependency-upgrade --dry-run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41B590-0B1C-4EB2-8631-45437EE5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0BCA4-ACF7-489E-B1B0-F3E8724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96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SBOM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222E6C-B2DB-4CB6-981B-2386B5A2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457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CDCAA2-EAB9-4FE3-B065-49390A27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1DF9E1-C2F8-474E-AA06-F4DFC2AD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Release proof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57CAD8-8760-4352-A9F3-E9D6A641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B726CF-893E-4056-89C8-D1CDD2A4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provider-test --all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9308A0-A2CD-442E-B895-F7794458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3ADAFB-EA48-4DDB-977E-C49B4E8C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577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security-certification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65DCEE-72DC-4BB6-AAEB-FA8732A9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4A2B53-209E-4E59-8677-1EA68323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96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ops-certification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25CBDE-BE37-4683-B569-FA03B404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530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F7F37B-DD34-465F-B317-648A4F82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96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314254"/>
                </a:solidFill>
                <a:latin typeface="Aptos Mono"/>
                <a:ea typeface="Aptos Mono"/>
                <a:cs typeface="Aptos Mono"/>
              </a:rPr>
              <a:t>release-check --json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17FF6C-CAC6-4BBB-9ED3-A680FBC9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43550"/>
            <a:ext cx="7467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0"/>
          </a:solidFill>
          <a:ln xmlns:a="http://schemas.openxmlformats.org/drawingml/2006/main" w="9525">
            <a:solidFill>
              <a:srgbClr val="20304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D45F06-0C57-43D6-AD83-390C1389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95950"/>
            <a:ext cx="681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 output should be reviewable evidence: JSON reports, drift status, retained screenshots/a11y, dependency advisories, hashes, and handoff.</a:t>
            </a:r>
          </a:p>
        </p:txBody>
      </p:sp>
    </p:spTree>
    <p:extLst>
      <p:ext uri="{BB962C8B-B14F-4D97-AF65-F5344CB8AC3E}">
        <p14:creationId xmlns:p14="http://schemas.microsoft.com/office/powerpoint/2010/main" val="4322428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57EC9C-2A83-4F3C-A038-74EB399D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CA037-1100-4A28-82C6-E37A349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1CA2E-13AC-4209-A652-B3AD16F0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SECURITY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F2229-357D-44A7-BD3F-79C3F647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Security controls live in the generated request path and the release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46757-0269-4748-9DC0-CB15F99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The current posture is strong locally, but production certification still requires retained live tenant, IDOR, audit, operations, performance, and supply-chain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3A382-60B2-4986-98D3-FB40BC3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196DD-B7B7-46AC-9156-6988BAA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8C486-3B43-4C07-AEC0-44C20E81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89D1F-0434-41D7-9953-C612E870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docs/10_ROADMAP.md, docs/SECURITY_THREAT_MODEL.md, docs/17_AGENTIC_MCP.md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FCE63-85AF-4082-9719-A2F5EEE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C99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1545bfcb1493e">
            <a:extLst>
              <a:ext uri="{96DAC541-7B7A-43D3-8B79-37D633B846F1}">
                <asvg:svgBlip xmlns:asvg="http://schemas.microsoft.com/office/drawing/2016/SVG/main" r:embed="R5409954dcc0e4c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2514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66E38-4D99-48C7-A5DE-CD8EAEDE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Auth and scopes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E3259-90C8-46D5-A970-1E0243BA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JWT/OIDC hooks, role/scope checks, local bypass guarded outside local env.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970EB-1789-4CA9-8B85-1E185D6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A5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fb8939463420d">
            <a:extLst>
              <a:ext uri="{96DAC541-7B7A-43D3-8B79-37D633B846F1}">
                <asvg:svgBlip xmlns:asvg="http://schemas.microsoft.com/office/drawing/2016/SVG/main" r:embed="Rb988c54d16dc4c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57700" y="2514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CFFDA-1171-4CD7-93F0-2AA2683C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Tenant and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FC3CB-97EC-4B30-980D-590CEC6D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432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Access filters, generated Rego policy fixtures, denied mutation proof.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D340F-1F85-4A3F-BF84-5AB352FE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137dffc1c43b9">
            <a:extLst>
              <a:ext uri="{96DAC541-7B7A-43D3-8B79-37D633B846F1}">
                <asvg:svgBlip xmlns:asvg="http://schemas.microsoft.com/office/drawing/2016/SVG/main" r:embed="R2e42aa57e8664b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77200" y="2514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6F752-596C-460A-BF34-99B1E21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GraphQL and MCP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78A70-318B-4569-8C0A-A284E6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Body, depth, complexity, batch, resource, result, and query budgets.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A0A08-A2B8-4134-AA39-1994B004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361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5B4BA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79d808f874529">
            <a:extLst>
              <a:ext uri="{96DAC541-7B7A-43D3-8B79-37D633B846F1}">
                <asvg:svgBlip xmlns:asvg="http://schemas.microsoft.com/office/drawing/2016/SVG/main" r:embed="Rf55b09456bfd4d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8900" y="42672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72A7C-89B0-4165-B0E5-B27750DA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481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Audit and redaction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C49D6-E4FB-40F4-9950-1CA2CB0C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958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Append-only event shape, redacted diagnostics, PHI/ePHI log lint.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0DC40-EB40-4017-BA93-542B9998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361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4e2064f1b487a">
            <a:extLst>
              <a:ext uri="{96DAC541-7B7A-43D3-8B79-37D633B846F1}">
                <asvg:svgBlip xmlns:asvg="http://schemas.microsoft.com/office/drawing/2016/SVG/main" r:embed="R4c90dce5254b42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42672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BE457-34CF-4387-B549-1DA249E6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Supply chain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A85F1-B783-41D2-AA25-1B94B93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958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dependency-check, SBOM, secret scan, release-evidence validation.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F33CB-BD7F-44CB-8D15-56A44B8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811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7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BC507-23A5-4075-95F8-DE614A14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53100"/>
            <a:ext cx="754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Candid release posture: MCP stays release-excluded unless certified; production is not certified until live release evidence passes together.</a:t>
            </a:r>
          </a:p>
        </p:txBody>
      </p:sp>
    </p:spTree>
    <p:extLst>
      <p:ext uri="{BB962C8B-B14F-4D97-AF65-F5344CB8AC3E}">
        <p14:creationId xmlns:p14="http://schemas.microsoft.com/office/powerpoint/2010/main" val="10963967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FE6CC-5A34-4C02-89B7-5373DAFD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61FD8-3382-402F-96BB-2D47AFD2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251CD-F745-496F-96B7-6D13272F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MATURITY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D5DD7-0806-4814-9967-83FDFF67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framework is high-maturity as a governed product-development system, with live evidence still the release limiter.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60422-F846-4A98-80CF-5C0CF382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Scores are current as of the June 4 roadmap and maturity appendix.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AB9DC-587C-49EB-956B-2A0F0B3E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B2A2B-CAE6-495F-B27B-270D40C3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7ADA9-400B-4055-AB62-A110904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C1D58-4BB7-4025-81DE-558E1A02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docs/10_ROADMAP.md, docs/APPENDIX_FRAMEWORK_CONCERNS_MATURITY_TREE.md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4DC55-901C-4F3A-9479-0462192B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Maintainability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52827-A045-4AB7-ADE2-E07E4E4D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717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9.88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37E4D-7697-4DBE-B8EB-EC3D8DA6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86B8A-205B-4AAE-B83E-1DAC344A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04660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C3B80-0FBE-47F0-B029-F7C493BD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Enterprise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AD659-C749-4BA7-80D0-8A9C87CF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9.39 / 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8F19B-292F-46A3-90E5-957477A9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0A0E7-3B6E-472B-A232-8F4D187E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84590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37E28-77B1-4B91-8F64-C9B9DFCA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Release gate and supply chain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B29BD-137F-4863-A1E1-4EA999F7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338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9.32 /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BA24F-99AD-428C-8F4A-DFB6FD60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6C7D9-50C6-41EF-92A5-FBD5E35E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381723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72B44-2573-4004-952E-CBA6DB2C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Agentic 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EB320-62E8-40C8-8382-6E81854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148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9.30 /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F1AE4-6290-405F-B747-A301E9A4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C6274-5E7F-4A31-818F-C9578B11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380904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0941C-114F-45EF-B09D-F4210EA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Secure by 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25280F-06FB-4F6F-ACEC-ACDE583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717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9.23 / 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D4695-6D34-49FA-8C96-7387A22D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E669F-8B6B-4BB5-AD6C-B99C441C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378037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B204B6-E2F4-47E5-958D-D02FEB5B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Frontend product experience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C78CB-49A3-4C41-A86D-4FB2EC1E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9.07 / 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7956E-DD82-4313-91E7-5053FEB3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DD9FA-8043-4EB3-94EA-8692E00A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371484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045DD-323D-4A1A-9568-FBD19D23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Release readiness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F89B0C-3ECF-4A01-83C3-92798C60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338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9.27 / 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DFDF31-092F-4B5F-ABEF-A78A87C3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B12075-803C-4248-954B-BA2C16C6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37967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8B4631-1544-4BA2-B6E1-3BF86B95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1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Production readiness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5C642B-6A1A-4146-AD96-332CA3F2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8.72 / 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BC4283-94D6-4274-8927-C6A08E8C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1C76CD-A91F-4F9A-99CF-B8639BC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357149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881EAB-E4CE-4858-92B6-DE5BDCA2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43550"/>
            <a:ext cx="8058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55F1A6-3AF7-4D9F-9708-50DD338A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388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Strong now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513369-4E8D-4E36-B4D8-FCDBA0B4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38800"/>
            <a:ext cx="520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Remaining lift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E3378E-E2DA-44CF-A470-8A508910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805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C49814-52BD-4B06-8222-178214CB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9531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Generated ownership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6255B5-5B1D-4BC8-BB40-5D5DC82E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53125"/>
            <a:ext cx="520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Product-template slimming and root cleanup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2D34C5-51C0-46D7-AF82-F75B714B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91250"/>
            <a:ext cx="805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D91F48-3611-4223-8627-2537E150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2769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CLI evidence family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F0A1BA-824B-4AB1-A094-AD3A7FC1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276975"/>
            <a:ext cx="520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Retain live CI/release artifacts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01A5BD-9E42-4049-8C3A-1FC8C8B3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515100"/>
            <a:ext cx="805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AFF467-5237-4165-9CDB-9022243F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008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CRM reference frontend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31A442-EF05-4001-9C7C-8422323F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600825"/>
            <a:ext cx="520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Execute scaffold in downstream CI</a:t>
            </a:r>
          </a:p>
        </p:txBody>
      </p:sp>
    </p:spTree>
    <p:extLst>
      <p:ext uri="{BB962C8B-B14F-4D97-AF65-F5344CB8AC3E}">
        <p14:creationId xmlns:p14="http://schemas.microsoft.com/office/powerpoint/2010/main" val="2112861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776DE8-3D50-41E0-B31E-0C3BD1F7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9478B-A3F7-4BCE-AAAC-7388BC0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1CD98-3ABA-4F20-9945-C9A946C7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C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C99"/>
                </a:solidFill>
                <a:latin typeface="Aptos"/>
                <a:ea typeface="Aptos"/>
                <a:cs typeface="Aptos"/>
              </a:rPr>
              <a:t>RELEASE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7CF3B-0B41-41DE-A7E1-DE61020A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next release work is evidence production and packaging clarity, not architecture discovery.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37DEF-E0B3-4DE2-995B-A730B05B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No known original P0 code blockers remain open in the current roadmap; the blocker is producing retained, approved release evidence across live provider-backed environments.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C1A5D-057F-4083-8FC3-9171B8A3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4254"/>
                </a:solidFill>
                <a:latin typeface="Aptos"/>
                <a:ea typeface="Aptos"/>
                <a:cs typeface="Aptos"/>
              </a:rPr>
              <a:t>APP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493FA-56A1-4943-9F9E-FC62C750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AF139-0700-4220-9479-8786311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8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A44E6-118C-4FC8-B70B-756AE1A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78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789"/>
                </a:solidFill>
                <a:latin typeface="Aptos"/>
                <a:ea typeface="Aptos"/>
                <a:cs typeface="Aptos"/>
              </a:rPr>
              <a:t>Source: docs/10_ROADMAP.md, docs/APPENDIX_FRAMEWORK_CONCERNS_MATURITY_TREE.md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867CB-E9C9-4FBF-A3E4-BDF8B5CF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9B245-BAAF-4396-9BC5-AE38A2C9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524A2-12C5-4D13-A784-8B66A931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717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66A7A-9A18-406A-BB26-3A6563BD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Provider-backed release-check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1AB4D-C4AB-42C3-8A94-692BFEFB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Run release-check and all-provider certification with retained JSON.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A8C0D-F9DA-4C7D-9B24-3E9921D2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BFE26-6FD1-4929-A954-09ACAAB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7767E-0578-48C0-97D9-0ABC03FF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717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1A015-DF57-4F86-A931-4097B222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385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Live security and ops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1132B-DA25-49A5-81B7-8BA134E9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9095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Tenant/IDOR/audit, OTLP/SIEM/alert/runbook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7D724-3605-4315-B277-83EC1066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79A4A-2A20-4231-8210-2B0C37BA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05F1F-528F-4FE8-813B-D99BBDD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717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EFC7B-63A9-4F70-81B9-790AE8F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Performance and supply chain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562BA-0E17-4D16-9CF3-6864BC1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9095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Load/provider performance, SBOM, dependency-check, provenance.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74C5A-A3F7-4DD7-8C33-3D60ACAA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66C44-69E4-478F-90A5-DAA7D00E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0F1DE-EEEA-427F-8F76-8A22FBD2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717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6F262F-59B6-4F59-96C2-AD1EEB51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Product packaging clarity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EA61F0-4E5F-4257-9A84-54406CDF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9095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42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4254"/>
                </a:solidFill>
                <a:latin typeface="Aptos"/>
                <a:ea typeface="Aptos"/>
                <a:cs typeface="Aptos"/>
              </a:rPr>
              <a:t>Downstream CI recipe, versioning, compatibility matrix, template slimming.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ABB938-DFBF-4BA5-BE48-02315FC0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929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0"/>
          </a:solidFill>
          <a:ln xmlns:a="http://schemas.openxmlformats.org/drawingml/2006/main" w="9525">
            <a:solidFill>
              <a:srgbClr val="2030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67D78-4BF2-4041-BAE3-EFC7545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E3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E3EF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F10C2B-C1AA-48A9-B25D-7722976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24500"/>
            <a:ext cx="847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Framework is mature enough to be evaluated as an enterprise platform. Release readiness depends on one clean, provider-backed evidence bundle and the remaining product-workspace packaging cleanup.</a:t>
            </a:r>
          </a:p>
        </p:txBody>
      </p:sp>
    </p:spTree>
    <p:extLst>
      <p:ext uri="{BB962C8B-B14F-4D97-AF65-F5344CB8AC3E}">
        <p14:creationId xmlns:p14="http://schemas.microsoft.com/office/powerpoint/2010/main" val="1265851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2026-06-05T17:37:56.4460000Z</dcterms:created>
  <dcterms:modified xsi:type="dcterms:W3CDTF">2026-06-05T17:37:56.4460000Z</dcterms:modified>
</coreProperties>
</file>